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DM Sans Bold" charset="1" panose="00000000000000000000"/>
      <p:regular r:id="rId30"/>
    </p:embeddedFont>
    <p:embeddedFont>
      <p:font typeface="Roboto Bold" charset="1" panose="02000000000000000000"/>
      <p:regular r:id="rId31"/>
    </p:embeddedFont>
    <p:embeddedFont>
      <p:font typeface="Roboto" charset="1" panose="02000000000000000000"/>
      <p:regular r:id="rId32"/>
    </p:embeddedFont>
    <p:embeddedFont>
      <p:font typeface="Roboto Bold Italics" charset="1" panose="02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817809" y="3873328"/>
            <a:ext cx="19923619" cy="84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7"/>
              </a:lnSpc>
            </a:pPr>
            <a:r>
              <a:rPr lang="en-US" b="true" sz="66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Firebase Storage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37926" y="2576219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2809" y="5891580"/>
            <a:ext cx="15193553" cy="240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SVTH: </a:t>
            </a:r>
          </a:p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1.Trương Vĩnh Thiện - 22KTMT1 - 106220235</a:t>
            </a:r>
          </a:p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Thân Công Đức       - 22KTMT2 - 106220249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2809" y="4970861"/>
            <a:ext cx="9231392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GVHD:</a:t>
            </a:r>
            <a:r>
              <a:rPr lang="en-US" sz="4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TS.Nguyễn Duy Nhật Viễn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43542" y="316820"/>
            <a:ext cx="7688223" cy="22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TRƯỜ</a:t>
            </a:r>
            <a:r>
              <a:rPr lang="en-US" b="true" sz="4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NG ĐẠI HỌC BÁCH KHOA​</a:t>
            </a:r>
          </a:p>
          <a:p>
            <a:pPr algn="ctr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KHOA ĐIỆN TỬ - VIỄN THÔNG​</a:t>
            </a:r>
          </a:p>
          <a:p>
            <a:pPr algn="ctr">
              <a:lnSpc>
                <a:spcPts val="60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35440" y="1869395"/>
            <a:ext cx="3345894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Báo cáo tuần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8309" y="2807861"/>
            <a:ext cx="9044219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Môn: Lập trình Đa nền tảng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34715" y="9153525"/>
            <a:ext cx="414099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Đà Nẵng,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 Nội dung báo cáo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2339363"/>
            <a:ext cx="16896981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Upload</a:t>
            </a: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images, documents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Progress tracking và error handling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File metadata và organization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Security rules cho file access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 Nội dung báo cáo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2339363"/>
            <a:ext cx="16896981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Upload</a:t>
            </a: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images, documents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Progress tracking và error handling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File metadata và organization</a:t>
            </a:r>
          </a:p>
          <a:p>
            <a:pPr algn="l" marL="1079501" indent="-539750" lvl="1">
              <a:lnSpc>
                <a:spcPts val="7000"/>
              </a:lnSpc>
              <a:buAutoNum type="arabicPeriod" startAt="1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Security rules cho file access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Firebase Storage là gì?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2339363"/>
            <a:ext cx="16896981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Dịch vụ lưu trữ</a:t>
            </a: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file an toàn, tốc độ cao từ Google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Tích hợp trực tiếp với Firebase Authentication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Hỗ trợ CDN &amp; tối ưu tải file cho người dùng cuối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Khi nào dùng Firebase Storage?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2339363"/>
            <a:ext cx="16896981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Lưu </a:t>
            </a: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file do người dùng tải lên (avatar, ảnh, video, tài liệu)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Chia sẻ file giữa nhiều thiết bị, nhiều người dùng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Khi cần quản lý file kèm phân quyền truy cập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Upload Images, Documents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5509" y="3098714"/>
            <a:ext cx="16896981" cy="4646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B1: Để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ứng dụng Flutter có thể kết nối và làm việc với Firebase Storage, cần cài đặt các thư viện sau: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flutter pub add firebase_core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flutter pub add firebase_storage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flutter pub add image_picker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flutter pub add file_picker</a:t>
            </a:r>
          </a:p>
          <a:p>
            <a:pPr algn="l">
              <a:lnSpc>
                <a:spcPts val="53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95509" y="1985474"/>
            <a:ext cx="7330916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Chuẩn bị trước khi upload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509" y="7278370"/>
            <a:ext cx="14274523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B2: Kết nối ứng dụng với Firebase Project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Tạo một Project mới trên Firebase Console.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Trong terminal của dự án Flutter, chạy lệnh: flutterfire configure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Upload Images, Documents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2181" y="4565901"/>
            <a:ext cx="14947064" cy="1155198"/>
          </a:xfrm>
          <a:custGeom>
            <a:avLst/>
            <a:gdLst/>
            <a:ahLst/>
            <a:cxnLst/>
            <a:rect r="r" b="b" t="t" l="l"/>
            <a:pathLst>
              <a:path h="1155198" w="14947064">
                <a:moveTo>
                  <a:pt x="0" y="0"/>
                </a:moveTo>
                <a:lnTo>
                  <a:pt x="14947064" y="0"/>
                </a:lnTo>
                <a:lnTo>
                  <a:pt x="14947064" y="1155198"/>
                </a:lnTo>
                <a:lnTo>
                  <a:pt x="0" y="1155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43" t="-165862" r="-5218" b="-6138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32887" y="6902316"/>
            <a:ext cx="8667075" cy="3093852"/>
          </a:xfrm>
          <a:custGeom>
            <a:avLst/>
            <a:gdLst/>
            <a:ahLst/>
            <a:cxnLst/>
            <a:rect r="r" b="b" t="t" l="l"/>
            <a:pathLst>
              <a:path h="3093852" w="8667075">
                <a:moveTo>
                  <a:pt x="0" y="0"/>
                </a:moveTo>
                <a:lnTo>
                  <a:pt x="8667075" y="0"/>
                </a:lnTo>
                <a:lnTo>
                  <a:pt x="8667075" y="3093852"/>
                </a:lnTo>
                <a:lnTo>
                  <a:pt x="0" y="3093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00" t="-24600" r="-9844" b="-267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5509" y="2732525"/>
            <a:ext cx="16896981" cy="197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Bước 1: N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gười dùng chọn ảnh từ thư viện: 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Sử dụng package image_picker để chọn ảnh từ thiết bị:</a:t>
            </a:r>
          </a:p>
          <a:p>
            <a:pPr algn="l">
              <a:lnSpc>
                <a:spcPts val="53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6056" y="1865577"/>
            <a:ext cx="8972788" cy="1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Upload</a:t>
            </a: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hình ảnh (Image Upload)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95509" y="6036811"/>
            <a:ext cx="10591086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Bước 2: Tạo đường dẫn lưu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trên Firebase Storage: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Upload Images, Documents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32363" y="3824554"/>
            <a:ext cx="8683074" cy="1848232"/>
          </a:xfrm>
          <a:custGeom>
            <a:avLst/>
            <a:gdLst/>
            <a:ahLst/>
            <a:cxnLst/>
            <a:rect r="r" b="b" t="t" l="l"/>
            <a:pathLst>
              <a:path h="1848232" w="8683074">
                <a:moveTo>
                  <a:pt x="0" y="0"/>
                </a:moveTo>
                <a:lnTo>
                  <a:pt x="8683074" y="0"/>
                </a:lnTo>
                <a:lnTo>
                  <a:pt x="8683074" y="1848232"/>
                </a:lnTo>
                <a:lnTo>
                  <a:pt x="0" y="1848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25" t="-49676" r="-12071" b="-4476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11016" y="7529842"/>
            <a:ext cx="11703428" cy="2299074"/>
          </a:xfrm>
          <a:custGeom>
            <a:avLst/>
            <a:gdLst/>
            <a:ahLst/>
            <a:cxnLst/>
            <a:rect r="r" b="b" t="t" l="l"/>
            <a:pathLst>
              <a:path h="2299074" w="11703428">
                <a:moveTo>
                  <a:pt x="0" y="0"/>
                </a:moveTo>
                <a:lnTo>
                  <a:pt x="11703428" y="0"/>
                </a:lnTo>
                <a:lnTo>
                  <a:pt x="11703428" y="2299074"/>
                </a:lnTo>
                <a:lnTo>
                  <a:pt x="0" y="2299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86" t="-30256" r="-6191" b="-3258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5509" y="2732525"/>
            <a:ext cx="16896981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Bước 3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Upload file lên Firebase:</a:t>
            </a:r>
          </a:p>
          <a:p>
            <a:pPr algn="l">
              <a:lnSpc>
                <a:spcPts val="53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6056" y="1865577"/>
            <a:ext cx="8972788" cy="1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Upload</a:t>
            </a: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hình ảnh (Image Upload)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95509" y="5815661"/>
            <a:ext cx="12643941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Bước 4: Lấy link tải về (Download URL): URL này có thể được dùng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trong Image.network(url) để hiển thị lại ảnh.</a:t>
            </a:r>
          </a:p>
          <a:p>
            <a:pPr algn="l">
              <a:lnSpc>
                <a:spcPts val="53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Upload Images, Documents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44475" y="3427214"/>
            <a:ext cx="11479227" cy="2175332"/>
          </a:xfrm>
          <a:custGeom>
            <a:avLst/>
            <a:gdLst/>
            <a:ahLst/>
            <a:cxnLst/>
            <a:rect r="r" b="b" t="t" l="l"/>
            <a:pathLst>
              <a:path h="2175332" w="11479227">
                <a:moveTo>
                  <a:pt x="0" y="0"/>
                </a:moveTo>
                <a:lnTo>
                  <a:pt x="11479227" y="0"/>
                </a:lnTo>
                <a:lnTo>
                  <a:pt x="11479227" y="2175332"/>
                </a:lnTo>
                <a:lnTo>
                  <a:pt x="0" y="2175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37" t="-32677" r="-5982" b="-3394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10102" y="6755632"/>
            <a:ext cx="11747973" cy="2502668"/>
          </a:xfrm>
          <a:custGeom>
            <a:avLst/>
            <a:gdLst/>
            <a:ahLst/>
            <a:cxnLst/>
            <a:rect r="r" b="b" t="t" l="l"/>
            <a:pathLst>
              <a:path h="2502668" w="11747973">
                <a:moveTo>
                  <a:pt x="0" y="0"/>
                </a:moveTo>
                <a:lnTo>
                  <a:pt x="11747973" y="0"/>
                </a:lnTo>
                <a:lnTo>
                  <a:pt x="11747973" y="2502668"/>
                </a:lnTo>
                <a:lnTo>
                  <a:pt x="0" y="2502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24" t="-22279" r="-4924" b="-2658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5509" y="2732525"/>
            <a:ext cx="16896981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Bước 1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Chọn file từ thiết bị: Dùng thư viện file_picker:</a:t>
            </a:r>
          </a:p>
          <a:p>
            <a:pPr algn="l">
              <a:lnSpc>
                <a:spcPts val="53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93915" y="1802379"/>
            <a:ext cx="9890879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Upload</a:t>
            </a: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tài liệu (Documents Upload)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5509" y="5815661"/>
            <a:ext cx="12643941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Bước 2: Upload file lên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Firebase Storage</a:t>
            </a:r>
          </a:p>
          <a:p>
            <a:pPr algn="l">
              <a:lnSpc>
                <a:spcPts val="532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Upload Images, Documents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74695" y="4934041"/>
            <a:ext cx="14781661" cy="2264588"/>
          </a:xfrm>
          <a:custGeom>
            <a:avLst/>
            <a:gdLst/>
            <a:ahLst/>
            <a:cxnLst/>
            <a:rect r="r" b="b" t="t" l="l"/>
            <a:pathLst>
              <a:path h="2264588" w="14781661">
                <a:moveTo>
                  <a:pt x="0" y="0"/>
                </a:moveTo>
                <a:lnTo>
                  <a:pt x="14781662" y="0"/>
                </a:lnTo>
                <a:lnTo>
                  <a:pt x="14781662" y="2264588"/>
                </a:lnTo>
                <a:lnTo>
                  <a:pt x="0" y="2264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83" t="-37629" r="-5183" b="-3762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424011"/>
            <a:ext cx="16896981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Bước 3</a:t>
            </a:r>
            <a:r>
              <a:rPr lang="en-US" sz="4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Lấy link tải xuống (Download URL)</a:t>
            </a:r>
          </a:p>
          <a:p>
            <a:pPr algn="l">
              <a:lnSpc>
                <a:spcPts val="60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3915" y="1802379"/>
            <a:ext cx="9890879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Upload</a:t>
            </a: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tài liệu (Documents Upload)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Upload Images, Documents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53409" y="1745360"/>
            <a:ext cx="13088915" cy="8488825"/>
          </a:xfrm>
          <a:custGeom>
            <a:avLst/>
            <a:gdLst/>
            <a:ahLst/>
            <a:cxnLst/>
            <a:rect r="r" b="b" t="t" l="l"/>
            <a:pathLst>
              <a:path h="8488825" w="13088915">
                <a:moveTo>
                  <a:pt x="0" y="0"/>
                </a:moveTo>
                <a:lnTo>
                  <a:pt x="13088915" y="0"/>
                </a:lnTo>
                <a:lnTo>
                  <a:pt x="13088915" y="8488824"/>
                </a:lnTo>
                <a:lnTo>
                  <a:pt x="0" y="848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0" t="-12088" r="-4279" b="-812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9794" y="1782083"/>
            <a:ext cx="4176712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Ví dụ minh hoạ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Progress tracking &amp; Error handling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2183" y="1650110"/>
            <a:ext cx="4965740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Progress tracking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8633" y="2677794"/>
            <a:ext cx="17259300" cy="48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25" indent="-496562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Khi gọi await ref.putFile(file); → Firebase Storage upload file lên cloud tự động.</a:t>
            </a:r>
          </a:p>
          <a:p>
            <a:pPr algn="l" marL="993125" indent="-496562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Vấn đề: Không biết đã tải được bao nhiêu % của file.</a:t>
            </a:r>
          </a:p>
          <a:p>
            <a:pPr algn="l" marL="993125" indent="-496562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Giải pháp: Dùng snapshotEvents để theo dõi tiến trình upload:</a:t>
            </a:r>
          </a:p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Gửi thông tin về % hoàn thành.</a:t>
            </a:r>
          </a:p>
          <a:p>
            <a:pPr algn="l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Có thể hiển thị trên console hoặc UI.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Progress tracking &amp; Error handling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13290" y="1745360"/>
            <a:ext cx="9090953" cy="8541640"/>
          </a:xfrm>
          <a:custGeom>
            <a:avLst/>
            <a:gdLst/>
            <a:ahLst/>
            <a:cxnLst/>
            <a:rect r="r" b="b" t="t" l="l"/>
            <a:pathLst>
              <a:path h="8541640" w="9090953">
                <a:moveTo>
                  <a:pt x="0" y="0"/>
                </a:moveTo>
                <a:lnTo>
                  <a:pt x="9090954" y="0"/>
                </a:lnTo>
                <a:lnTo>
                  <a:pt x="9090954" y="8541640"/>
                </a:lnTo>
                <a:lnTo>
                  <a:pt x="0" y="8541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45" t="-12376" r="-4889" b="-756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2183" y="1650110"/>
            <a:ext cx="4965740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Progress tracking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File metadata và organization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20544" y="3662811"/>
            <a:ext cx="14446913" cy="5814882"/>
          </a:xfrm>
          <a:custGeom>
            <a:avLst/>
            <a:gdLst/>
            <a:ahLst/>
            <a:cxnLst/>
            <a:rect r="r" b="b" t="t" l="l"/>
            <a:pathLst>
              <a:path h="5814882" w="14446913">
                <a:moveTo>
                  <a:pt x="0" y="0"/>
                </a:moveTo>
                <a:lnTo>
                  <a:pt x="14446912" y="0"/>
                </a:lnTo>
                <a:lnTo>
                  <a:pt x="14446912" y="5814883"/>
                </a:lnTo>
                <a:lnTo>
                  <a:pt x="0" y="5814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50110"/>
            <a:ext cx="3810833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File metadata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750" y="2721106"/>
            <a:ext cx="1657850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Metadata (siêu dữ liệu): thông tin bổ sung về file, không phải nội dung file.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File metadata và organization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12418" y="3662811"/>
            <a:ext cx="13263164" cy="5278586"/>
          </a:xfrm>
          <a:custGeom>
            <a:avLst/>
            <a:gdLst/>
            <a:ahLst/>
            <a:cxnLst/>
            <a:rect r="r" b="b" t="t" l="l"/>
            <a:pathLst>
              <a:path h="5278586" w="13263164">
                <a:moveTo>
                  <a:pt x="0" y="0"/>
                </a:moveTo>
                <a:lnTo>
                  <a:pt x="13263164" y="0"/>
                </a:lnTo>
                <a:lnTo>
                  <a:pt x="13263164" y="5278587"/>
                </a:lnTo>
                <a:lnTo>
                  <a:pt x="0" y="5278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46" t="-13678" r="-5370" b="-153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50110"/>
            <a:ext cx="3810833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File metadata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750" y="2721106"/>
            <a:ext cx="16081058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Khi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upload, có thể đính kèm metadata cùng lúc bằng SettableMetadata.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File metadata và organization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903110"/>
            <a:ext cx="16415764" cy="4360453"/>
          </a:xfrm>
          <a:custGeom>
            <a:avLst/>
            <a:gdLst/>
            <a:ahLst/>
            <a:cxnLst/>
            <a:rect r="r" b="b" t="t" l="l"/>
            <a:pathLst>
              <a:path h="4360453" w="16415764">
                <a:moveTo>
                  <a:pt x="0" y="0"/>
                </a:moveTo>
                <a:lnTo>
                  <a:pt x="16415764" y="0"/>
                </a:lnTo>
                <a:lnTo>
                  <a:pt x="16415764" y="4360453"/>
                </a:lnTo>
                <a:lnTo>
                  <a:pt x="0" y="4360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39" t="-16345" r="-4945" b="-1827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50110"/>
            <a:ext cx="3810833" cy="85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File metadata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750" y="2721106"/>
            <a:ext cx="1110734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Khi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cần xem lại thông tin của file, bạn có thể gọi: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File organization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0979" y="1960144"/>
            <a:ext cx="16648321" cy="264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Firebase Storage không có thư mục vật lý (physical folders) như máy tính.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File được lưu theo đường dẫn (path), hiển thị như thư mục logic trong Firebase Console.</a:t>
            </a:r>
          </a:p>
          <a:p>
            <a:pPr algn="l">
              <a:lnSpc>
                <a:spcPts val="53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87794" y="4115435"/>
            <a:ext cx="7241977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users/user123/avatar.jpg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users/user123/documents/cv.pdf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users/user456/avatar.jpg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314440"/>
            <a:ext cx="6545223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Hiển thị trên Firebase Console: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004634" y="3902169"/>
            <a:ext cx="4643319" cy="5547171"/>
          </a:xfrm>
          <a:custGeom>
            <a:avLst/>
            <a:gdLst/>
            <a:ahLst/>
            <a:cxnLst/>
            <a:rect r="r" b="b" t="t" l="l"/>
            <a:pathLst>
              <a:path h="5547171" w="4643319">
                <a:moveTo>
                  <a:pt x="0" y="0"/>
                </a:moveTo>
                <a:lnTo>
                  <a:pt x="4643319" y="0"/>
                </a:lnTo>
                <a:lnTo>
                  <a:pt x="4643319" y="5547172"/>
                </a:lnTo>
                <a:lnTo>
                  <a:pt x="0" y="5547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File organization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292525" y="1799513"/>
            <a:ext cx="12084392" cy="7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Nguyên tắc thiết kế cấu trúc thư mục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9306" y="2647240"/>
            <a:ext cx="15690191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Phân chia theo loại dữ liệu / entity. Ví dụ: users/, products/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Gắn định danh cho từng đối tượng. Ví dụ: users/{userId}/avatar.jpg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Tên file rõ ràng, thống nhất, tránh trùng. Ví dụ:vatar_1730953120000.jpg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Tránh ký tự đặc biệt &amp; khoảng trắng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Chỉ dùng chữ thường, _, -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Tách dữ liệu theo môi trường nếu cần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dev/users/... vs prod/users/...</a:t>
            </a:r>
          </a:p>
          <a:p>
            <a:pPr algn="l">
              <a:lnSpc>
                <a:spcPts val="532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File organization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538181"/>
            <a:ext cx="16401140" cy="3267465"/>
          </a:xfrm>
          <a:custGeom>
            <a:avLst/>
            <a:gdLst/>
            <a:ahLst/>
            <a:cxnLst/>
            <a:rect r="r" b="b" t="t" l="l"/>
            <a:pathLst>
              <a:path h="3267465" w="16401140">
                <a:moveTo>
                  <a:pt x="0" y="0"/>
                </a:moveTo>
                <a:lnTo>
                  <a:pt x="16401140" y="0"/>
                </a:lnTo>
                <a:lnTo>
                  <a:pt x="16401140" y="3267465"/>
                </a:lnTo>
                <a:lnTo>
                  <a:pt x="0" y="3267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68" t="-17911" r="-5416" b="-177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755151" y="1801012"/>
            <a:ext cx="12084392" cy="7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Liệt kê file trong thư mục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8904" y="3001481"/>
            <a:ext cx="15690191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Lấy danh sách file theo folder</a:t>
            </a: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logic bằng hàm listAll() hoặc list().</a:t>
            </a:r>
          </a:p>
          <a:p>
            <a:pPr algn="l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File organization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5244" y="3911347"/>
            <a:ext cx="15964056" cy="5605911"/>
          </a:xfrm>
          <a:custGeom>
            <a:avLst/>
            <a:gdLst/>
            <a:ahLst/>
            <a:cxnLst/>
            <a:rect r="r" b="b" t="t" l="l"/>
            <a:pathLst>
              <a:path h="5605911" w="15964056">
                <a:moveTo>
                  <a:pt x="0" y="0"/>
                </a:moveTo>
                <a:lnTo>
                  <a:pt x="15964056" y="0"/>
                </a:lnTo>
                <a:lnTo>
                  <a:pt x="15964056" y="5605910"/>
                </a:lnTo>
                <a:lnTo>
                  <a:pt x="0" y="560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6" t="-11758" r="-4857" b="-1383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755151" y="1801012"/>
            <a:ext cx="12084392" cy="7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Liệt kê file trong thư mục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79497"/>
            <a:ext cx="1240369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Với nhiều file (hàng trăm/hàng nghìn), dùng phân trang: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Security rules cho file access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50167" y="5143500"/>
            <a:ext cx="14587665" cy="4959806"/>
          </a:xfrm>
          <a:custGeom>
            <a:avLst/>
            <a:gdLst/>
            <a:ahLst/>
            <a:cxnLst/>
            <a:rect r="r" b="b" t="t" l="l"/>
            <a:pathLst>
              <a:path h="4959806" w="14587665">
                <a:moveTo>
                  <a:pt x="0" y="0"/>
                </a:moveTo>
                <a:lnTo>
                  <a:pt x="14587666" y="0"/>
                </a:lnTo>
                <a:lnTo>
                  <a:pt x="14587666" y="4959806"/>
                </a:lnTo>
                <a:lnTo>
                  <a:pt x="0" y="4959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2707" y="1928805"/>
            <a:ext cx="16882587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Secur</a:t>
            </a: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ity Rules: tập quy tắc bảo mật dùng để: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Quyết định ai được download hoặc upload/delete file.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Bảo vệ dữ liệu người dùng (ảnh cá nhân, tài liệu riêng tư).</a:t>
            </a:r>
          </a:p>
          <a:p>
            <a:pPr algn="l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Giới hạn truy cập theo điều kiện: user ID, loại file, dung lượng, thời gian…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45360"/>
            <a:chOff x="0" y="0"/>
            <a:chExt cx="4816593" cy="45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683"/>
            </a:xfrm>
            <a:custGeom>
              <a:avLst/>
              <a:gdLst/>
              <a:ahLst/>
              <a:cxnLst/>
              <a:rect r="r" b="b" t="t" l="l"/>
              <a:pathLst>
                <a:path h="45968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83"/>
                  </a:lnTo>
                  <a:lnTo>
                    <a:pt x="0" y="45968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816593" cy="58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59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  Security rules cho file access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71871" y="2066080"/>
            <a:ext cx="9537117" cy="3639288"/>
          </a:xfrm>
          <a:custGeom>
            <a:avLst/>
            <a:gdLst/>
            <a:ahLst/>
            <a:cxnLst/>
            <a:rect r="r" b="b" t="t" l="l"/>
            <a:pathLst>
              <a:path h="3639288" w="9537117">
                <a:moveTo>
                  <a:pt x="0" y="0"/>
                </a:moveTo>
                <a:lnTo>
                  <a:pt x="9537118" y="0"/>
                </a:lnTo>
                <a:lnTo>
                  <a:pt x="9537118" y="3639288"/>
                </a:lnTo>
                <a:lnTo>
                  <a:pt x="0" y="3639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90" t="-37510" r="-6901" b="-2277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90613" y="6026088"/>
            <a:ext cx="11996994" cy="4260912"/>
          </a:xfrm>
          <a:custGeom>
            <a:avLst/>
            <a:gdLst/>
            <a:ahLst/>
            <a:cxnLst/>
            <a:rect r="r" b="b" t="t" l="l"/>
            <a:pathLst>
              <a:path h="4260912" w="11996994">
                <a:moveTo>
                  <a:pt x="0" y="0"/>
                </a:moveTo>
                <a:lnTo>
                  <a:pt x="11996994" y="0"/>
                </a:lnTo>
                <a:lnTo>
                  <a:pt x="11996994" y="4260912"/>
                </a:lnTo>
                <a:lnTo>
                  <a:pt x="0" y="4260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65" t="-29016" r="-6065" b="-1992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3193399" y="1801012"/>
            <a:ext cx="12084392" cy="7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Cấu trúc cơ bản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3193399" y="5930838"/>
            <a:ext cx="12084392" cy="7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Ví dụ minh họa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287" y="1170676"/>
            <a:ext cx="17633713" cy="555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b="true" sz="61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TÀI LIỆU THAM KHẢO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[1]. Viblo.asia, “Flutter ListView và ScrollPhysics: Cách nhìn cụ thể”, Viblo, 2024.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[2]. LogRocket Blog, “How to add ListTile in Flutter”, LogRocket, 2024.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[3]. Flutter.dev, “GridView class documentation”, Flutter API Docs, 2025.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[4]. Flutter.dev, “CustomScrollView class documentation”, Flutter API Docs, 2025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[5]. Kodeco Team, Kevin D. Moore, Vincent Ngo, Stef Patterson &amp;Alejandro UlateFallas, Flutter Apprentice: Learn to Build Cross-Platform Apps, Based on material byVincenzo Guzzi &amp; Mike Katz, Kodeco Publishing, 2023.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789194" cy="2894446"/>
          </a:xfrm>
          <a:custGeom>
            <a:avLst/>
            <a:gdLst/>
            <a:ahLst/>
            <a:cxnLst/>
            <a:rect r="r" b="b" t="t" l="l"/>
            <a:pathLst>
              <a:path h="2894446" w="2789194">
                <a:moveTo>
                  <a:pt x="0" y="0"/>
                </a:moveTo>
                <a:lnTo>
                  <a:pt x="2789194" y="0"/>
                </a:lnTo>
                <a:lnTo>
                  <a:pt x="2789194" y="2894446"/>
                </a:lnTo>
                <a:lnTo>
                  <a:pt x="0" y="2894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21903" y="0"/>
            <a:ext cx="2966097" cy="3069807"/>
          </a:xfrm>
          <a:custGeom>
            <a:avLst/>
            <a:gdLst/>
            <a:ahLst/>
            <a:cxnLst/>
            <a:rect r="r" b="b" t="t" l="l"/>
            <a:pathLst>
              <a:path h="3069807" w="2966097">
                <a:moveTo>
                  <a:pt x="0" y="0"/>
                </a:moveTo>
                <a:lnTo>
                  <a:pt x="2966097" y="0"/>
                </a:lnTo>
                <a:lnTo>
                  <a:pt x="2966097" y="3069807"/>
                </a:lnTo>
                <a:lnTo>
                  <a:pt x="0" y="3069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25598" y="4991100"/>
            <a:ext cx="11436805" cy="264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  <a:spcBef>
                <a:spcPct val="0"/>
              </a:spcBef>
            </a:pPr>
            <a:r>
              <a:rPr lang="en-US" b="true" sz="75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Cảm ơn thầy cô và các bạn đã chú ý lắng nghe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54739"/>
            <a:ext cx="4974074" cy="163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Trương Vĩnh Thiện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Thân Công Đức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DAG4Bhhx9WY</dc:identifier>
  <dcterms:modified xsi:type="dcterms:W3CDTF">2011-08-01T06:04:30Z</dcterms:modified>
  <cp:revision>1</cp:revision>
  <dc:title>ListView và Scrollable Widgets</dc:title>
</cp:coreProperties>
</file>